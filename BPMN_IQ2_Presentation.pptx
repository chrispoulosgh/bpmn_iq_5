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74152" y="0"/>
            <a:ext cx="4114800" cy="2926080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pmniq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400800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429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00C3E3"/>
                </a:solidFill>
                <a:latin typeface="Calibri"/>
              </a:rPr>
              <a:t>Process Intelligence Platform for Enterprise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977639"/>
            <a:ext cx="6858000" cy="36576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5D6D2"/>
                </a:solidFill>
                <a:latin typeface="Calibri"/>
              </a:rPr>
              <a:t>BPMN Authoring  ·  Application Risk Analytics  ·  Enterprise Cost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26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E8E8E"/>
                </a:solidFill>
                <a:latin typeface="Calibri"/>
              </a:rPr>
              <a:t>May 2026  |  v2.0</a:t>
            </a:r>
          </a:p>
        </p:txBody>
      </p:sp>
      <p:pic>
        <p:nvPicPr>
          <p:cNvPr id="10" name="Picture 9" descr="bpmniq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632" y="274320"/>
            <a:ext cx="219456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pmniq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41148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64592"/>
            <a:ext cx="1118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68096"/>
            <a:ext cx="11183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3E3"/>
                </a:solidFill>
                <a:latin typeface="Calibri"/>
              </a:rPr>
              <a:t>What we'll cover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71600"/>
            <a:ext cx="12188952" cy="41148"/>
          </a:xfrm>
          <a:prstGeom prst="rect">
            <a:avLst/>
          </a:prstGeom>
          <a:solidFill>
            <a:srgbClr val="00C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556248"/>
            <a:ext cx="1182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D5D6D2"/>
                </a:solidFill>
                <a:latin typeface="Calibri"/>
              </a:rPr>
              <a:t>BPMN IQ 2  |  Process Intelligence Platform  |  AT&amp;T Enterprise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1672" y="65562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D5D6D2"/>
                </a:solidFill>
                <a:latin typeface="Calibri"/>
              </a:rPr>
              <a:t>May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00200"/>
            <a:ext cx="502920" cy="502920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6459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600200"/>
            <a:ext cx="468231321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85A"/>
                </a:solidFill>
                <a:latin typeface="Calibri"/>
              </a:rPr>
              <a:t>What is BPMN IQ 2?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892808"/>
            <a:ext cx="468231321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8E"/>
                </a:solidFill>
                <a:latin typeface="Calibri"/>
              </a:rPr>
              <a:t>Purpose &amp; vision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532888"/>
            <a:ext cx="502920" cy="502920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57860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532888"/>
            <a:ext cx="468231321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85A"/>
                </a:solidFill>
                <a:latin typeface="Calibri"/>
              </a:rPr>
              <a:t>The Problem We Solve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825496"/>
            <a:ext cx="468231321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8E"/>
                </a:solidFill>
                <a:latin typeface="Calibri"/>
              </a:rPr>
              <a:t>EA pain points addressed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465576"/>
            <a:ext cx="502920" cy="502920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51129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465576"/>
            <a:ext cx="468231321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85A"/>
                </a:solidFill>
                <a:latin typeface="Calibri"/>
              </a:rPr>
              <a:t>Feature Overview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758184"/>
            <a:ext cx="468231321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8E"/>
                </a:solidFill>
                <a:latin typeface="Calibri"/>
              </a:rPr>
              <a:t>Capabilities &amp; functions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398264"/>
            <a:ext cx="502920" cy="502920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44398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398264"/>
            <a:ext cx="468231321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85A"/>
                </a:solidFill>
                <a:latin typeface="Calibri"/>
              </a:rPr>
              <a:t>Data 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690872"/>
            <a:ext cx="468231321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8E"/>
                </a:solidFill>
                <a:latin typeface="Calibri"/>
              </a:rPr>
              <a:t>Collections &amp; data model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330952"/>
            <a:ext cx="502920" cy="502920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376672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330952"/>
            <a:ext cx="468231321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85A"/>
                </a:solidFill>
                <a:latin typeface="Calibri"/>
              </a:rPr>
              <a:t>Technical Architecture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623560"/>
            <a:ext cx="468231321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8E"/>
                </a:solidFill>
                <a:latin typeface="Calibri"/>
              </a:rPr>
              <a:t>Tech stack &amp; deployment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600200"/>
            <a:ext cx="502920" cy="502920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16459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1600200"/>
            <a:ext cx="468231321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85A"/>
                </a:solidFill>
                <a:latin typeface="Calibri"/>
              </a:rPr>
              <a:t>EA Framework Alignment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1892808"/>
            <a:ext cx="468231321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8E"/>
                </a:solidFill>
                <a:latin typeface="Calibri"/>
              </a:rPr>
              <a:t>TOGAF, TM Forum, Capability Maps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2532888"/>
            <a:ext cx="502920" cy="502920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2578608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2532888"/>
            <a:ext cx="468231321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85A"/>
                </a:solidFill>
                <a:latin typeface="Calibri"/>
              </a:rPr>
              <a:t>Analytics Dashboard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2825496"/>
            <a:ext cx="468231321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8E"/>
                </a:solidFill>
                <a:latin typeface="Calibri"/>
              </a:rPr>
              <a:t>Risk, compliance &amp; cost insights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3465576"/>
            <a:ext cx="502920" cy="502920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3511296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3465576"/>
            <a:ext cx="468231321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85A"/>
                </a:solidFill>
                <a:latin typeface="Calibri"/>
              </a:rPr>
              <a:t>User Roles &amp; Access Control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12280" y="3758184"/>
            <a:ext cx="468231321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8E"/>
                </a:solidFill>
                <a:latin typeface="Calibri"/>
              </a:rPr>
              <a:t>Security &amp; governance model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4398264"/>
            <a:ext cx="502920" cy="502920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0" y="4443984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4398264"/>
            <a:ext cx="468231321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285A"/>
                </a:solidFill>
                <a:latin typeface="Calibri"/>
              </a:rPr>
              <a:t>Value Delivered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12280" y="4690872"/>
            <a:ext cx="468231321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E8E8E"/>
                </a:solidFill>
                <a:latin typeface="Calibri"/>
              </a:rPr>
              <a:t>Business 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pmniq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41148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64592"/>
            <a:ext cx="1118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What is BPMN IQ 2?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68096"/>
            <a:ext cx="11183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3E3"/>
                </a:solidFill>
                <a:latin typeface="Calibri"/>
              </a:rPr>
              <a:t>A purpose-built Enterprise Architecture intelligence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71600"/>
            <a:ext cx="12188952" cy="41148"/>
          </a:xfrm>
          <a:prstGeom prst="rect">
            <a:avLst/>
          </a:prstGeom>
          <a:solidFill>
            <a:srgbClr val="00C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556248"/>
            <a:ext cx="1182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D5D6D2"/>
                </a:solidFill>
                <a:latin typeface="Calibri"/>
              </a:rPr>
              <a:t>BPMN IQ 2  |  Process Intelligence Platform  |  AT&amp;T Enterprise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1672" y="65562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D5D6D2"/>
                </a:solidFill>
                <a:latin typeface="Calibri"/>
              </a:rPr>
              <a:t>May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00200"/>
            <a:ext cx="7315200" cy="1417320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600200"/>
            <a:ext cx="109728" cy="1417320"/>
          </a:xfrm>
          <a:prstGeom prst="rect">
            <a:avLst/>
          </a:prstGeom>
          <a:solidFill>
            <a:srgbClr val="00C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691640"/>
            <a:ext cx="6949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BPMN IQ 2 is a web-based platform that allows Enterprise Architects to author, store, and analyse BPMN 2.0 business process diagrams — and then derive structured intelligence about the applications, tasks, costs, and compliance risk embedded within those processes.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00400"/>
            <a:ext cx="3566160" cy="457200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3218688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Author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657600"/>
            <a:ext cx="3566160" cy="2331720"/>
          </a:xfrm>
          <a:prstGeom prst="rect">
            <a:avLst/>
          </a:prstGeom>
          <a:solidFill>
            <a:srgbClr val="D5D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749039"/>
            <a:ext cx="32918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Draw &amp; save BPMN 2.0 diagrams with rich metadata tagging. Classify by Line of Business, Channel, Domain, Product &amp; Business Flow.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3200400"/>
            <a:ext cx="3566160" cy="457200"/>
          </a:xfrm>
          <a:prstGeom prst="rect">
            <a:avLst/>
          </a:prstGeom>
          <a:solidFill>
            <a:srgbClr val="00C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3218688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Enrich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3657600"/>
            <a:ext cx="3566160" cy="2331720"/>
          </a:xfrm>
          <a:prstGeom prst="rect">
            <a:avLst/>
          </a:prstGeom>
          <a:solidFill>
            <a:srgbClr val="D5D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3749039"/>
            <a:ext cx="32918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Bind applications, actors, capabilities &amp; cost data to every task in every flow. Build a living map of your application landscape.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3200400"/>
            <a:ext cx="3566160" cy="457200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3218688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Analyse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3657600"/>
            <a:ext cx="3566160" cy="2331720"/>
          </a:xfrm>
          <a:prstGeom prst="rect">
            <a:avLst/>
          </a:prstGeom>
          <a:solidFill>
            <a:srgbClr val="D5D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3749039"/>
            <a:ext cx="32918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Dashboards surface risk scores, compliance exposure (CPNI, SPI, PCI, SOX), application criticality &amp; annual cost by flow or task.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pmniq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41148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64592"/>
            <a:ext cx="1118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The Problem We Solve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68096"/>
            <a:ext cx="11183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3E3"/>
                </a:solidFill>
                <a:latin typeface="Calibri"/>
              </a:rPr>
              <a:t>Common Enterprise Architecture gaps BPMN IQ 2 addresses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71600"/>
            <a:ext cx="12188952" cy="41148"/>
          </a:xfrm>
          <a:prstGeom prst="rect">
            <a:avLst/>
          </a:prstGeom>
          <a:solidFill>
            <a:srgbClr val="00C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556248"/>
            <a:ext cx="1182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D5D6D2"/>
                </a:solidFill>
                <a:latin typeface="Calibri"/>
              </a:rPr>
              <a:t>BPMN IQ 2  |  Process Intelligence Platform  |  AT&amp;T Enterprise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1672" y="65562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D5D6D2"/>
                </a:solidFill>
                <a:latin typeface="Calibri"/>
              </a:rPr>
              <a:t>May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600200"/>
            <a:ext cx="5577840" cy="141732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600200"/>
            <a:ext cx="91440" cy="1417320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6733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85A"/>
                </a:solidFill>
                <a:latin typeface="Calibri"/>
              </a:rPr>
              <a:t>Disconnected Process &amp; App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020824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  <a:latin typeface="Calibri"/>
              </a:rPr>
              <a:t>Process diagrams live in Visio or Confluence. Application data lives in LeanIX or ServiceNow. There is no tool that joins them — until now.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172968"/>
            <a:ext cx="5577840" cy="141732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172968"/>
            <a:ext cx="91440" cy="1417320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2461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85A"/>
                </a:solidFill>
                <a:latin typeface="Calibri"/>
              </a:rPr>
              <a:t>No Compliance Visibility at Process Level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593592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  <a:latin typeface="Calibri"/>
              </a:rPr>
              <a:t>Architects cannot easily answer: 'Which business flows touch CPNI data?' or 'What is the PCI exposure of the Checkout flow?' BPMN IQ 2 answers these instantly.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745736"/>
            <a:ext cx="5577840" cy="141732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4745736"/>
            <a:ext cx="91440" cy="1417320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81888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85A"/>
                </a:solidFill>
                <a:latin typeface="Calibri"/>
              </a:rPr>
              <a:t>Opaque Application Costs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16636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  <a:latin typeface="Calibri"/>
              </a:rPr>
              <a:t>Annual OpEx and DevEx are tracked in spreadsheets, never linked to the processes they support. BPMN IQ 2 surfaces cost-per-flow and cost-per-task.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600200"/>
            <a:ext cx="5577840" cy="141732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1600200"/>
            <a:ext cx="91440" cy="1417320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16733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85A"/>
                </a:solidFill>
                <a:latin typeface="Calibri"/>
              </a:rPr>
              <a:t>Stale Capability Mapping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8" y="2020824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  <a:latin typeface="Calibri"/>
              </a:rPr>
              <a:t>Business capability models are rarely kept in sync with running processes. BPMN IQ 2 auto-matches tasks to capabilities using AI-assisted scoring.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172968"/>
            <a:ext cx="5577840" cy="141732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172968"/>
            <a:ext cx="91440" cy="1417320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32461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85A"/>
                </a:solidFill>
                <a:latin typeface="Calibri"/>
              </a:rPr>
              <a:t>No Lifecycle Awareness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8" y="3593592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  <a:latin typeface="Calibri"/>
              </a:rPr>
              <a:t>Architects cannot tell which flows depend on retiring or sunset applications. BPMN IQ 2 flags lifecycle risk per task and per flow.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4745736"/>
            <a:ext cx="5577840" cy="141732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4745736"/>
            <a:ext cx="91440" cy="1417320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64808" y="481888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285A"/>
                </a:solidFill>
                <a:latin typeface="Calibri"/>
              </a:rPr>
              <a:t>Governance Without Guardrails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64808" y="516636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C2C2C"/>
                </a:solidFill>
                <a:latin typeface="Calibri"/>
              </a:rPr>
              <a:t>Diagram quality and metadata completeness are inconsistent. BPMN IQ 2 enforces state workflows (Draft → Review → Published → Retired).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pmniq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41148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64592"/>
            <a:ext cx="1118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Feature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68096"/>
            <a:ext cx="11183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3E3"/>
                </a:solidFill>
                <a:latin typeface="Calibri"/>
              </a:rPr>
              <a:t>What BPMN IQ 2 can do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71600"/>
            <a:ext cx="12188952" cy="41148"/>
          </a:xfrm>
          <a:prstGeom prst="rect">
            <a:avLst/>
          </a:prstGeom>
          <a:solidFill>
            <a:srgbClr val="00C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556248"/>
            <a:ext cx="1182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D5D6D2"/>
                </a:solidFill>
                <a:latin typeface="Calibri"/>
              </a:rPr>
              <a:t>BPMN IQ 2  |  Process Intelligence Platform  |  AT&amp;T Enterprise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1672" y="65562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D5D6D2"/>
                </a:solidFill>
                <a:latin typeface="Calibri"/>
              </a:rPr>
              <a:t>May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72768"/>
            <a:ext cx="3840480" cy="117043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1572768"/>
            <a:ext cx="3840480" cy="73152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68249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85A"/>
                </a:solidFill>
                <a:latin typeface="Calibri"/>
              </a:rPr>
              <a:t>BPMN 2.0 Canvas Editor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993392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Full bpmn-js powered diagram editor with lanes, gateways, events, sub-processes and custom extension attributes. Auto-saves to MongoDB.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834640"/>
            <a:ext cx="3840480" cy="117043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834640"/>
            <a:ext cx="3840480" cy="73152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944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85A"/>
                </a:solidFill>
                <a:latin typeface="Calibri"/>
              </a:rPr>
              <a:t>Business Flow Tagging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255264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Each diagram is classified by Line of Business, Channel, Domain, Subdomain, Product, and Business Flow — enabling multi-dimensional filtering.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096512"/>
            <a:ext cx="3840480" cy="117043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4096512"/>
            <a:ext cx="3840480" cy="73152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206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85A"/>
                </a:solidFill>
                <a:latin typeface="Calibri"/>
              </a:rPr>
              <a:t>Application Binding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517136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Tasks are linked to enterprise applications. Every application carries lifecycle status, criticality, type, cost data, and compliance flags.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358384"/>
            <a:ext cx="3840480" cy="117043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5358384"/>
            <a:ext cx="3840480" cy="73152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4681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85A"/>
                </a:solidFill>
                <a:latin typeface="Calibri"/>
              </a:rPr>
              <a:t>Capability Auto-Match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779008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An AI-assisted engine matches diagram tasks to the Business Capability Model, returning a confidence score and justification for each match.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59" y="1572768"/>
            <a:ext cx="3840480" cy="117043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51959" y="1572768"/>
            <a:ext cx="3840480" cy="73152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43399" y="168249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85A"/>
                </a:solidFill>
                <a:latin typeface="Calibri"/>
              </a:rPr>
              <a:t>Analytics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399" y="1993392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Interactive charts: Top-20 cost bars (flow &amp; task), Application Criticality pie, Compliance Radar, 3D Flow Explorer, and Risk Score tables.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51959" y="2834640"/>
            <a:ext cx="3840480" cy="117043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51959" y="2834640"/>
            <a:ext cx="3840480" cy="73152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399" y="2944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85A"/>
                </a:solidFill>
                <a:latin typeface="Calibri"/>
              </a:rPr>
              <a:t>Compliance Risk Scoring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399" y="3255264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Each task receives a composite risk score based on CPNI, SPI, PCI, SOX, customer-facing, and internet-facing flags across its applications.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51959" y="4096512"/>
            <a:ext cx="3840480" cy="117043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51959" y="4096512"/>
            <a:ext cx="3840480" cy="73152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43399" y="4206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85A"/>
                </a:solidFill>
                <a:latin typeface="Calibri"/>
              </a:rPr>
              <a:t>Cost Intelligence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43399" y="4517136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Annual operational and development cost per flow and per task, sourced from the application reference data and visualised for 2016-2025.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59" y="5358384"/>
            <a:ext cx="3840480" cy="117043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51959" y="5358384"/>
            <a:ext cx="3840480" cy="73152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43399" y="54681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85A"/>
                </a:solidFill>
                <a:latin typeface="Calibri"/>
              </a:rPr>
              <a:t>Factory Editors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43399" y="5779008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Dedicated CRUD editors for Applications, Business Flows, Tasks, Actors, Capabilities, Products, Lines of Business, Channels, Domains, and Subdomains.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598" y="1572768"/>
            <a:ext cx="3840480" cy="117043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29598" y="1572768"/>
            <a:ext cx="3840480" cy="73152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38" y="168249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85A"/>
                </a:solidFill>
                <a:latin typeface="Calibri"/>
              </a:rPr>
              <a:t>Role-Based Access Control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38" y="1993392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Users are assigned Roles (Admin, Editor, Viewer). Each role has a Capability-Permission matrix. Session-managed via server-side tokens with auto-expiry.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598" y="2834640"/>
            <a:ext cx="3840480" cy="117043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229598" y="2834640"/>
            <a:ext cx="3840480" cy="73152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21038" y="2944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85A"/>
                </a:solidFill>
                <a:latin typeface="Calibri"/>
              </a:rPr>
              <a:t>State Workflow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38" y="3255264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Diagrams and assets move through a governed lifecycle: Draft → In Review → Published → Deprecated → Retired.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29598" y="4096512"/>
            <a:ext cx="3840480" cy="117043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229598" y="4096512"/>
            <a:ext cx="3840480" cy="73152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21038" y="4206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85A"/>
                </a:solidFill>
                <a:latin typeface="Calibri"/>
              </a:rPr>
              <a:t>Detailed Cost Reports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38" y="4517136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Generate HTML reports showing per-process application cost breakdown with operational vs. development split for any business flow.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29598" y="5358384"/>
            <a:ext cx="3840480" cy="1170432"/>
          </a:xfrm>
          <a:prstGeom prst="rect">
            <a:avLst/>
          </a:prstGeom>
          <a:solidFill>
            <a:srgbClr val="F4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229598" y="5358384"/>
            <a:ext cx="3840480" cy="73152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21038" y="54681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285A"/>
                </a:solidFill>
                <a:latin typeface="Calibri"/>
              </a:rPr>
              <a:t>Search &amp; Discover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21038" y="5779008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Full-text search across diagram names, tags, and content. Filter by any taxonomy dimension across the library.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pmniq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41148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64592"/>
            <a:ext cx="1118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Data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68096"/>
            <a:ext cx="11183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3E3"/>
                </a:solidFill>
                <a:latin typeface="Calibri"/>
              </a:rPr>
              <a:t>MongoDB collections &amp; key fields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71600"/>
            <a:ext cx="12188952" cy="41148"/>
          </a:xfrm>
          <a:prstGeom prst="rect">
            <a:avLst/>
          </a:prstGeom>
          <a:solidFill>
            <a:srgbClr val="00C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556248"/>
            <a:ext cx="1182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D5D6D2"/>
                </a:solidFill>
                <a:latin typeface="Calibri"/>
              </a:rPr>
              <a:t>BPMN IQ 2  |  Process Intelligence Platform  |  AT&amp;T Enterprise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1672" y="65562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D5D6D2"/>
                </a:solidFill>
                <a:latin typeface="Calibri"/>
              </a:rPr>
              <a:t>May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72768"/>
            <a:ext cx="1280160" cy="384048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" y="1627632"/>
            <a:ext cx="11521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diagrams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956816"/>
            <a:ext cx="1280160" cy="1078992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1993392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C2C"/>
                </a:solidFill>
                <a:latin typeface="Calibri"/>
              </a:rPr>
              <a:t>• name, description, tags, version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2231136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C2C"/>
                </a:solidFill>
                <a:latin typeface="Calibri"/>
              </a:rPr>
              <a:t>• xml (BPMN 2.0 source)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2468880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C2C"/>
                </a:solidFill>
                <a:latin typeface="Calibri"/>
              </a:rPr>
              <a:t>• capabilities[], changeHistory[]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2706624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C2C"/>
                </a:solidFill>
                <a:latin typeface="Calibri"/>
              </a:rPr>
              <a:t>• tasks[].applications[].annualCosts[]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27632" y="1572768"/>
            <a:ext cx="1280160" cy="384048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1640" y="1627632"/>
            <a:ext cx="11521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tasks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27632" y="1956816"/>
            <a:ext cx="1280160" cy="1078992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00784" y="1993392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C2C"/>
                </a:solidFill>
                <a:latin typeface="Calibri"/>
              </a:rPr>
              <a:t>• name, businessFlow, product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0784" y="2231136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C2C"/>
                </a:solidFill>
                <a:latin typeface="Calibri"/>
              </a:rPr>
              <a:t>• domain, subdomain, channel, actor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00784" y="2468880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C2C"/>
                </a:solidFill>
                <a:latin typeface="Calibri"/>
              </a:rPr>
              <a:t>• applications[] (names)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00784" y="2706624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C2C"/>
                </a:solidFill>
                <a:latin typeface="Calibri"/>
              </a:rPr>
              <a:t>• sequence, owner, state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80944" y="1572768"/>
            <a:ext cx="1280160" cy="384048"/>
          </a:xfrm>
          <a:prstGeom prst="rect">
            <a:avLst/>
          </a:prstGeom>
          <a:solidFill>
            <a:srgbClr val="00C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44952" y="1627632"/>
            <a:ext cx="11521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applications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80944" y="1956816"/>
            <a:ext cx="1280160" cy="1078992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54096" y="1993392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C2C"/>
                </a:solidFill>
                <a:latin typeface="Calibri"/>
              </a:rPr>
              <a:t>• name, lifecycleStatus, applicationType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54096" y="2231136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C2C"/>
                </a:solidFill>
                <a:latin typeface="Calibri"/>
              </a:rPr>
              <a:t>• businessCriticality, customerFacing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54096" y="2468880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C2C"/>
                </a:solidFill>
                <a:latin typeface="Calibri"/>
              </a:rPr>
              <a:t>• cpniIndicator, handleSpi, pciData, soxFsa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54096" y="2706624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C2C"/>
                </a:solidFill>
                <a:latin typeface="Calibri"/>
              </a:rPr>
              <a:t>• annualTotalCosts[0..9] (2016–2025)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34256" y="1572768"/>
            <a:ext cx="1280160" cy="384048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98264" y="1627632"/>
            <a:ext cx="11521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businessflows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34256" y="1956816"/>
            <a:ext cx="1280160" cy="1078992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07408" y="1993392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C2C"/>
                </a:solidFill>
                <a:latin typeface="Calibri"/>
              </a:rPr>
              <a:t>• name, lineOfBusiness, channel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07408" y="2231136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C2C"/>
                </a:solidFill>
                <a:latin typeface="Calibri"/>
              </a:rPr>
              <a:t>• domain, subdomain, product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07408" y="2468880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C2C"/>
                </a:solidFill>
                <a:latin typeface="Calibri"/>
              </a:rPr>
              <a:t>• tasks[] with applications[].annualCosts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07408" y="2706624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C2C"/>
                </a:solidFill>
                <a:latin typeface="Calibri"/>
              </a:rPr>
              <a:t>• Aggregated at import time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87568" y="1572768"/>
            <a:ext cx="1280160" cy="384048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51576" y="1627632"/>
            <a:ext cx="11521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capabilities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87568" y="1956816"/>
            <a:ext cx="1280160" cy="1078992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60720" y="1993392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C2C"/>
                </a:solidFill>
                <a:latin typeface="Calibri"/>
              </a:rPr>
              <a:t>• capabilityId, name, domainName, aspect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20" y="2231136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C2C"/>
                </a:solidFill>
                <a:latin typeface="Calibri"/>
              </a:rPr>
              <a:t>• briefDescription, fullDescription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60720" y="2468880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C2C"/>
                </a:solidFill>
                <a:latin typeface="Calibri"/>
              </a:rPr>
              <a:t>• tmfStatus, tmfVersion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0720" y="2706624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C2C"/>
                </a:solidFill>
                <a:latin typeface="Calibri"/>
              </a:rPr>
              <a:t>• owner, state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3236976"/>
            <a:ext cx="1280160" cy="384048"/>
          </a:xfrm>
          <a:prstGeom prst="rect">
            <a:avLst/>
          </a:prstGeom>
          <a:solidFill>
            <a:srgbClr val="00C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8328" y="3291840"/>
            <a:ext cx="11521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actors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3621024"/>
            <a:ext cx="1280160" cy="1078992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7472" y="3657600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C2C"/>
                </a:solidFill>
                <a:latin typeface="Calibri"/>
              </a:rPr>
              <a:t>• name, role, description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7472" y="3895344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C2C"/>
                </a:solidFill>
                <a:latin typeface="Calibri"/>
              </a:rPr>
              <a:t>• owner, state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627632" y="3236976"/>
            <a:ext cx="1280160" cy="384048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691640" y="3291840"/>
            <a:ext cx="11521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roles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627632" y="3621024"/>
            <a:ext cx="1280160" cy="1078992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700784" y="3657600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C2C"/>
                </a:solidFill>
                <a:latin typeface="Calibri"/>
              </a:rPr>
              <a:t>• name, capabilities[]{function, permission}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00784" y="3895344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C2C"/>
                </a:solidFill>
                <a:latin typeface="Calibri"/>
              </a:rPr>
              <a:t>• Defines RBAC matrix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980944" y="3236976"/>
            <a:ext cx="1280160" cy="384048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044952" y="3291840"/>
            <a:ext cx="11521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users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80944" y="3621024"/>
            <a:ext cx="1280160" cy="1078992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054096" y="3657600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C2C"/>
                </a:solidFill>
                <a:latin typeface="Calibri"/>
              </a:rPr>
              <a:t>• username, passwordHash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54096" y="3895344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C2C"/>
                </a:solidFill>
                <a:latin typeface="Calibri"/>
              </a:rPr>
              <a:t>• role, lastLogin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334256" y="3236976"/>
            <a:ext cx="1280160" cy="384048"/>
          </a:xfrm>
          <a:prstGeom prst="rect">
            <a:avLst/>
          </a:prstGeom>
          <a:solidFill>
            <a:srgbClr val="00C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98264" y="3291840"/>
            <a:ext cx="115214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states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34256" y="3621024"/>
            <a:ext cx="1280160" cy="1078992"/>
          </a:xfrm>
          <a:prstGeom prst="rect">
            <a:avLst/>
          </a:prstGeom>
          <a:solidFill>
            <a:srgbClr val="F2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407408" y="3657600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C2C"/>
                </a:solidFill>
                <a:latin typeface="Calibri"/>
              </a:rPr>
              <a:t>• Workflow state definitions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407408" y="3895344"/>
            <a:ext cx="11704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C2C"/>
                </a:solidFill>
                <a:latin typeface="Calibri"/>
              </a:rPr>
              <a:t>• Draft → InReview → Published → Retired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74320" y="60350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E8E8E"/>
                </a:solidFill>
                <a:latin typeface="Calibri"/>
              </a:rPr>
              <a:t>All collections reside in MongoDB (bpmn_iq database).  businessflows is a denormalised read-model rebuilt on diagram import/save.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pmniq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41148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64592"/>
            <a:ext cx="1118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Technical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68096"/>
            <a:ext cx="11183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3E3"/>
                </a:solidFill>
                <a:latin typeface="Calibri"/>
              </a:rPr>
              <a:t>Full-stack technology choices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71600"/>
            <a:ext cx="12188952" cy="41148"/>
          </a:xfrm>
          <a:prstGeom prst="rect">
            <a:avLst/>
          </a:prstGeom>
          <a:solidFill>
            <a:srgbClr val="00C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556248"/>
            <a:ext cx="1182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D5D6D2"/>
                </a:solidFill>
                <a:latin typeface="Calibri"/>
              </a:rPr>
              <a:t>BPMN IQ 2  |  Process Intelligence Platform  |  AT&amp;T Enterprise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1672" y="65562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D5D6D2"/>
                </a:solidFill>
                <a:latin typeface="Calibri"/>
              </a:rPr>
              <a:t>May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72768"/>
            <a:ext cx="1920240" cy="1234440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" y="198424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Presentation Layer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1572768"/>
            <a:ext cx="9601200" cy="1234440"/>
          </a:xfrm>
          <a:prstGeom prst="rect">
            <a:avLst/>
          </a:prstGeom>
          <a:solidFill>
            <a:srgbClr val="F3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31720" y="1682496"/>
            <a:ext cx="173736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31720" y="1682496"/>
            <a:ext cx="1737360" cy="36576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04872" y="1737360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85A"/>
                </a:solidFill>
                <a:latin typeface="Calibri"/>
              </a:rPr>
              <a:t>React 18 + TypeScript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04872" y="201168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C2C"/>
                </a:solidFill>
                <a:latin typeface="Calibri"/>
              </a:rPr>
              <a:t>Component-based SPA. Vite dev server (port 5173).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33672" y="1682496"/>
            <a:ext cx="173736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33672" y="1682496"/>
            <a:ext cx="1737360" cy="36576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06824" y="1737360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85A"/>
                </a:solidFill>
                <a:latin typeface="Calibri"/>
              </a:rPr>
              <a:t>Ant Design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06824" y="201168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C2C"/>
                </a:solidFill>
                <a:latin typeface="Calibri"/>
              </a:rPr>
              <a:t>UI kit: Tabs, Select, Card, Table, Statistic, Modal.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35624" y="1682496"/>
            <a:ext cx="173736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35624" y="1682496"/>
            <a:ext cx="1737360" cy="36576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08776" y="1737360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85A"/>
                </a:solidFill>
                <a:latin typeface="Calibri"/>
              </a:rPr>
              <a:t>bpmn-js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08776" y="201168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C2C"/>
                </a:solidFill>
                <a:latin typeface="Calibri"/>
              </a:rPr>
              <a:t>Industry-standard BPMN 2.0 renderer &amp; modeller.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37576" y="1682496"/>
            <a:ext cx="173736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37576" y="1682496"/>
            <a:ext cx="1737360" cy="36576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10728" y="1737360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85A"/>
                </a:solidFill>
                <a:latin typeface="Calibri"/>
              </a:rPr>
              <a:t>Recharts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0728" y="201168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C2C"/>
                </a:solidFill>
                <a:latin typeface="Calibri"/>
              </a:rPr>
              <a:t>BarChart, PieChart, RadarChart — all responsive.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39528" y="1682496"/>
            <a:ext cx="173736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39528" y="1682496"/>
            <a:ext cx="1737360" cy="36576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12680" y="1737360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85A"/>
                </a:solidFill>
                <a:latin typeface="Calibri"/>
              </a:rPr>
              <a:t>react-plotly.js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12680" y="2011680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C2C"/>
                </a:solidFill>
                <a:latin typeface="Calibri"/>
              </a:rPr>
              <a:t>3D scatter / surface charts for Flow Explorer.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2999232"/>
            <a:ext cx="1920240" cy="1234440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0896" y="341071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API / Business Layer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94560" y="2999232"/>
            <a:ext cx="9601200" cy="1234440"/>
          </a:xfrm>
          <a:prstGeom prst="rect">
            <a:avLst/>
          </a:prstGeom>
          <a:solidFill>
            <a:srgbClr val="F3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331720" y="3108960"/>
            <a:ext cx="173736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331720" y="3108960"/>
            <a:ext cx="1737360" cy="36576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04872" y="3163824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85A"/>
                </a:solidFill>
                <a:latin typeface="Calibri"/>
              </a:rPr>
              <a:t>Node.js 20 + Express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04872" y="3438144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C2C"/>
                </a:solidFill>
                <a:latin typeface="Calibri"/>
              </a:rPr>
              <a:t>RESTful API server (port 3001). JWT-like session tokens.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33672" y="3108960"/>
            <a:ext cx="173736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33672" y="3108960"/>
            <a:ext cx="1737360" cy="36576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06824" y="3163824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85A"/>
                </a:solidFill>
                <a:latin typeface="Calibri"/>
              </a:rPr>
              <a:t>Mongoose ODM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06824" y="3438144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C2C"/>
                </a:solidFill>
                <a:latin typeface="Calibri"/>
              </a:rPr>
              <a:t>Schema validation, indexes, text search.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35624" y="3108960"/>
            <a:ext cx="173736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35624" y="3108960"/>
            <a:ext cx="1737360" cy="36576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08776" y="3163824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85A"/>
                </a:solidFill>
                <a:latin typeface="Calibri"/>
              </a:rPr>
              <a:t>Route modules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08776" y="3438144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C2C"/>
                </a:solidFill>
                <a:latin typeface="Calibri"/>
              </a:rPr>
              <a:t>diagrams, tasks, dashboard, reports, auth, admin, capabilities, actors.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37576" y="3108960"/>
            <a:ext cx="173736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037576" y="3108960"/>
            <a:ext cx="1737360" cy="36576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10728" y="3163824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85A"/>
                </a:solidFill>
                <a:latin typeface="Calibri"/>
              </a:rPr>
              <a:t>AI Capability Match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10728" y="3438144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C2C"/>
                </a:solidFill>
                <a:latin typeface="Calibri"/>
              </a:rPr>
              <a:t>Embeddings-style scoring against Business Capability Model.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425696"/>
            <a:ext cx="1920240" cy="1234440"/>
          </a:xfrm>
          <a:prstGeom prst="rect">
            <a:avLst/>
          </a:prstGeom>
          <a:solidFill>
            <a:srgbClr val="00C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10896" y="4837176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Data Layer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194560" y="4425696"/>
            <a:ext cx="9601200" cy="1234440"/>
          </a:xfrm>
          <a:prstGeom prst="rect">
            <a:avLst/>
          </a:prstGeom>
          <a:solidFill>
            <a:srgbClr val="F3F8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331720" y="4535424"/>
            <a:ext cx="173736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331720" y="4535424"/>
            <a:ext cx="1737360" cy="36576"/>
          </a:xfrm>
          <a:prstGeom prst="rect">
            <a:avLst/>
          </a:prstGeom>
          <a:solidFill>
            <a:srgbClr val="00C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404872" y="4590288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85A"/>
                </a:solidFill>
                <a:latin typeface="Calibri"/>
              </a:rPr>
              <a:t>MongoDB 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04872" y="4864608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C2C"/>
                </a:solidFill>
                <a:latin typeface="Calibri"/>
              </a:rPr>
              <a:t>Document store – bpmn_iq database, 15 collections.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33672" y="4535424"/>
            <a:ext cx="173736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233672" y="4535424"/>
            <a:ext cx="1737360" cy="36576"/>
          </a:xfrm>
          <a:prstGeom prst="rect">
            <a:avLst/>
          </a:prstGeom>
          <a:solidFill>
            <a:srgbClr val="00C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06824" y="4590288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85A"/>
                </a:solidFill>
                <a:latin typeface="Calibri"/>
              </a:rPr>
              <a:t>Application Ref Data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06824" y="4864608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C2C"/>
                </a:solidFill>
                <a:latin typeface="Calibri"/>
              </a:rPr>
              <a:t>5 000+ app records sourced from app_ref_data.csv.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35624" y="4535424"/>
            <a:ext cx="173736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35624" y="4535424"/>
            <a:ext cx="1737360" cy="36576"/>
          </a:xfrm>
          <a:prstGeom prst="rect">
            <a:avLst/>
          </a:prstGeom>
          <a:solidFill>
            <a:srgbClr val="00C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08776" y="4590288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285A"/>
                </a:solidFill>
                <a:latin typeface="Calibri"/>
              </a:rPr>
              <a:t>BPMN Extension Schema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08776" y="4864608"/>
            <a:ext cx="1600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C2C"/>
                </a:solidFill>
                <a:latin typeface="Calibri"/>
              </a:rPr>
              <a:t>bpmniq-moddle.json extends BPMN 2.0 with custom attributes.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4320" y="603504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E8E8E"/>
                </a:solidFill>
                <a:latin typeface="Calibri"/>
              </a:rPr>
              <a:t>Ports:  Client → :5173 (Vite)   API → :3001 (Express)   DB → :27017 (MongoDB)   Proxy: Vite dev-server forwards /api/* → Express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pmniq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41148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64592"/>
            <a:ext cx="1118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Enterprise Architecture Alignment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68096"/>
            <a:ext cx="11183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3E3"/>
                </a:solidFill>
                <a:latin typeface="Calibri"/>
              </a:rPr>
              <a:t>How BPMN IQ 2 maps to industry EA frameworks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71600"/>
            <a:ext cx="12188952" cy="41148"/>
          </a:xfrm>
          <a:prstGeom prst="rect">
            <a:avLst/>
          </a:prstGeom>
          <a:solidFill>
            <a:srgbClr val="00C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556248"/>
            <a:ext cx="1182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D5D6D2"/>
                </a:solidFill>
                <a:latin typeface="Calibri"/>
              </a:rPr>
              <a:t>BPMN IQ 2  |  Process Intelligence Platform  |  AT&amp;T Enterprise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1672" y="65562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D5D6D2"/>
                </a:solidFill>
                <a:latin typeface="Calibri"/>
              </a:rPr>
              <a:t>May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72768"/>
            <a:ext cx="5852160" cy="402336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627632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TOGAF ADM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39696"/>
            <a:ext cx="109728" cy="109728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048256"/>
            <a:ext cx="5376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Business Architecture phase — process diagrams
  directly populate the BA artefact set.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542032"/>
            <a:ext cx="109728" cy="109728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2450592"/>
            <a:ext cx="5376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Information Systems Architecture — applications
  linked to every task form the IS layer.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944368"/>
            <a:ext cx="109728" cy="109728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2852928"/>
            <a:ext cx="5376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Technology Architecture — lifecycle &amp; cost data
  feeds Technology Roadmap decisions.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346704"/>
            <a:ext cx="109728" cy="109728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255264"/>
            <a:ext cx="5376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Architecture Governance — state workflow
  (Draft→Published→Retired) enforces ADM gates.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1572768"/>
            <a:ext cx="5852160" cy="402336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81928" y="1627632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TM Forum eTOM / SID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2139696"/>
            <a:ext cx="109728" cy="109728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8" y="2048256"/>
            <a:ext cx="5376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Processes classified by Domain &amp; Subdomain
  align to eTOM Level 2/3 groupings.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2542032"/>
            <a:ext cx="109728" cy="109728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8" y="2450592"/>
            <a:ext cx="5376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Applications mapped to eTOM process areas
  enable TM Forum Frameworx compliance.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2944368"/>
            <a:ext cx="109728" cy="109728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4808" y="2852928"/>
            <a:ext cx="5376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Capability IDs carry tmfStatus &amp; tmfVersion
  for direct eTOM traceability.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3346704"/>
            <a:ext cx="109728" cy="109728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8" y="3255264"/>
            <a:ext cx="5376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Business Flow hierarchy mirrors
  eTOM Engaged Party &amp; Customer domains.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813048"/>
            <a:ext cx="5852160" cy="402336"/>
          </a:xfrm>
          <a:prstGeom prst="rect">
            <a:avLst/>
          </a:prstGeom>
          <a:solidFill>
            <a:srgbClr val="00C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" y="3867912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Business Capability Model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379976"/>
            <a:ext cx="109728" cy="109728"/>
          </a:xfrm>
          <a:prstGeom prst="rect">
            <a:avLst/>
          </a:prstGeom>
          <a:solidFill>
            <a:srgbClr val="00C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4288536"/>
            <a:ext cx="5376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AI-assisted capability matching scores
  each BPMN task against the BCM.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782312"/>
            <a:ext cx="109728" cy="109728"/>
          </a:xfrm>
          <a:prstGeom prst="rect">
            <a:avLst/>
          </a:prstGeom>
          <a:solidFill>
            <a:srgbClr val="00C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4690872"/>
            <a:ext cx="5376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Confidence scores &amp; justifications
  stored per diagram for audit.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184648"/>
            <a:ext cx="109728" cy="109728"/>
          </a:xfrm>
          <a:prstGeom prst="rect">
            <a:avLst/>
          </a:prstGeom>
          <a:solidFill>
            <a:srgbClr val="00C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5093208"/>
            <a:ext cx="5376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Capability Factory enables BCM maintenance
  inside the same platform.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586984"/>
            <a:ext cx="109728" cy="109728"/>
          </a:xfrm>
          <a:prstGeom prst="rect">
            <a:avLst/>
          </a:prstGeom>
          <a:solidFill>
            <a:srgbClr val="00C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5495544"/>
            <a:ext cx="5376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Supports heat-mapping: which capabilities
  have the most regulatory exposure?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72200" y="3813048"/>
            <a:ext cx="5852160" cy="402336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81928" y="3867912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Application Portfolio Mgmt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4379976"/>
            <a:ext cx="109728" cy="109728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64808" y="4288536"/>
            <a:ext cx="5376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Every application carries LeanIX-compatible
  lifecycle, criticality &amp; type metadata.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4782312"/>
            <a:ext cx="109728" cy="109728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64808" y="4690872"/>
            <a:ext cx="5376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Cost per application per year (2016-2025)
  supports TCO &amp; run-cost analysis.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3640" y="5184648"/>
            <a:ext cx="109728" cy="109728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64808" y="5093208"/>
            <a:ext cx="5376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Process-to-application dependency matrix
  derived automatically from task bindings.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5586984"/>
            <a:ext cx="109728" cy="109728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64808" y="5495544"/>
            <a:ext cx="537667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Retiring-application risk surfaced in
  Dashboard compliance radar.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pmniq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41148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64592"/>
            <a:ext cx="1118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Analytics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68096"/>
            <a:ext cx="11183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3E3"/>
                </a:solidFill>
                <a:latin typeface="Calibri"/>
              </a:rPr>
              <a:t>Insights derived from the process &amp; application 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71600"/>
            <a:ext cx="12188952" cy="41148"/>
          </a:xfrm>
          <a:prstGeom prst="rect">
            <a:avLst/>
          </a:prstGeom>
          <a:solidFill>
            <a:srgbClr val="00C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556248"/>
            <a:ext cx="1182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D5D6D2"/>
                </a:solidFill>
                <a:latin typeface="Calibri"/>
              </a:rPr>
              <a:t>BPMN IQ 2  |  Process Intelligence Platform  |  AT&amp;T Enterprise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1672" y="65562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D5D6D2"/>
                </a:solidFill>
                <a:latin typeface="Calibri"/>
              </a:rPr>
              <a:t>May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72768"/>
            <a:ext cx="3749039" cy="365760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618488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Business Flow Comparison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011680"/>
            <a:ext cx="3749039" cy="98755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011680"/>
            <a:ext cx="54864" cy="987552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" y="2066544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85A"/>
                </a:solidFill>
                <a:latin typeface="Calibri"/>
              </a:rPr>
              <a:t>Top 20 Flows by Cost (2025)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" y="2331720"/>
            <a:ext cx="35661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Stacked bar: Op Cost vs Dev Cost per flow. Sorted by total. Hover for exact values.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090672"/>
            <a:ext cx="3749039" cy="98755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090672"/>
            <a:ext cx="54864" cy="987552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" y="3145536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85A"/>
                </a:solidFill>
                <a:latin typeface="Calibri"/>
              </a:rPr>
              <a:t>Compliance Bar Chart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" y="3410712"/>
            <a:ext cx="35661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App compliance counts (CPNI, SPI, PCI, SOX, Customer/Internet-facing) stacked per flow.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169664"/>
            <a:ext cx="3749039" cy="98755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169664"/>
            <a:ext cx="54864" cy="987552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2336" y="4224528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85A"/>
                </a:solidFill>
                <a:latin typeface="Calibri"/>
              </a:rPr>
              <a:t>Application Criticality Pie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" y="4489704"/>
            <a:ext cx="35661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Distribution of Mission Critical / Business Critical / Standard apps. Filter by one or more flows using the multi-select picker.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248656"/>
            <a:ext cx="3749039" cy="98755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5248656"/>
            <a:ext cx="54864" cy="987552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2336" y="530352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85A"/>
                </a:solidFill>
                <a:latin typeface="Calibri"/>
              </a:rPr>
              <a:t>Compliance Radar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" y="5568696"/>
            <a:ext cx="35661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Spider chart of compliance dimensions for up to 5 selected flows. Defaults to Top 5 by risk score.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59" y="1572768"/>
            <a:ext cx="3749039" cy="365760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43399" y="1618488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Task Comparison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51959" y="2011680"/>
            <a:ext cx="3749039" cy="987552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51959" y="2011680"/>
            <a:ext cx="54864" cy="987552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79975" y="2066544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85A"/>
                </a:solidFill>
                <a:latin typeface="Calibri"/>
              </a:rPr>
              <a:t>Top 20 Tasks by Cost (2025)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79975" y="2331720"/>
            <a:ext cx="35661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Same stacked bar format as flows. Shows task name + owning business flow in tooltip.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51959" y="3090672"/>
            <a:ext cx="3749039" cy="987552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51959" y="3090672"/>
            <a:ext cx="54864" cy="987552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79975" y="3145536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85A"/>
                </a:solidFill>
                <a:latin typeface="Calibri"/>
              </a:rPr>
              <a:t>Task Compliance Bar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79975" y="3410712"/>
            <a:ext cx="35661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Per-task compliance flag counts across the riskiest tasks.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51959" y="4169664"/>
            <a:ext cx="3749039" cy="987552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51959" y="4169664"/>
            <a:ext cx="54864" cy="987552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79975" y="4224528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85A"/>
                </a:solidFill>
                <a:latin typeface="Calibri"/>
              </a:rPr>
              <a:t>Application Criticality Pie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79975" y="4489704"/>
            <a:ext cx="35661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Filtered by task selection (multi-select, 710 unique task names). Aggregates all instances of a shared task name across flows.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51959" y="5248656"/>
            <a:ext cx="3749039" cy="987552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51959" y="5248656"/>
            <a:ext cx="54864" cy="987552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79975" y="5303520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85A"/>
                </a:solidFill>
                <a:latin typeface="Calibri"/>
              </a:rPr>
              <a:t>Task Compliance Radar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79975" y="5568696"/>
            <a:ext cx="35661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Up to 5 selected tasks. Defaults to Top 5 riskiest. Dynamic title on selection.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598" y="1572768"/>
            <a:ext cx="3749039" cy="365760"/>
          </a:xfrm>
          <a:prstGeom prst="rect">
            <a:avLst/>
          </a:prstGeom>
          <a:solidFill>
            <a:srgbClr val="00C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21038" y="1618488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3D Flow Explorer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598" y="2011680"/>
            <a:ext cx="3749039" cy="98755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229598" y="2011680"/>
            <a:ext cx="54864" cy="987552"/>
          </a:xfrm>
          <a:prstGeom prst="rect">
            <a:avLst/>
          </a:prstGeom>
          <a:solidFill>
            <a:srgbClr val="00C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57614" y="2066544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85A"/>
                </a:solidFill>
                <a:latin typeface="Calibri"/>
              </a:rPr>
              <a:t>3D Scatter / Surface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57614" y="2331720"/>
            <a:ext cx="35661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Business flows plotted in 3D space: X=app count, Y=risk score, Z=cost. Powered by Plotly.js. Rotate, zoom, hover for detail.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598" y="3090672"/>
            <a:ext cx="3749039" cy="987552"/>
          </a:xfrm>
          <a:prstGeom prst="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229598" y="3090672"/>
            <a:ext cx="54864" cy="987552"/>
          </a:xfrm>
          <a:prstGeom prst="rect">
            <a:avLst/>
          </a:prstGeom>
          <a:solidFill>
            <a:srgbClr val="00C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57614" y="3145536"/>
            <a:ext cx="3566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285A"/>
                </a:solidFill>
                <a:latin typeface="Calibri"/>
              </a:rPr>
              <a:t>Summary Statistics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57614" y="3410712"/>
            <a:ext cx="356615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C2C2C"/>
                </a:solidFill>
                <a:latin typeface="Calibri"/>
              </a:rPr>
              <a:t>KPI cards: Total Flows, Total Tasks, Total Apps, Avg Risk Score, High Risk Count, Max Risk Score.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pmniq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411480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64592"/>
            <a:ext cx="1118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User Roles &amp; Access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68096"/>
            <a:ext cx="11183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3E3"/>
                </a:solidFill>
                <a:latin typeface="Calibri"/>
              </a:rPr>
              <a:t>Security, governance &amp; workflow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71600"/>
            <a:ext cx="12188952" cy="41148"/>
          </a:xfrm>
          <a:prstGeom prst="rect">
            <a:avLst/>
          </a:prstGeom>
          <a:solidFill>
            <a:srgbClr val="00C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6556248"/>
            <a:ext cx="1182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D5D6D2"/>
                </a:solidFill>
                <a:latin typeface="Calibri"/>
              </a:rPr>
              <a:t>BPMN IQ 2  |  Process Intelligence Platform  |  AT&amp;T Enterprise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1672" y="65562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D5D6D2"/>
                </a:solidFill>
                <a:latin typeface="Calibri"/>
              </a:rPr>
              <a:t>May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00200"/>
            <a:ext cx="3657600" cy="502920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16459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Admin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322576"/>
            <a:ext cx="128016" cy="128016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21284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Full platform access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706624"/>
            <a:ext cx="128016" cy="128016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59689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Manage users, roles &amp; permissions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090672"/>
            <a:ext cx="128016" cy="128016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8094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Access all factory editors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474720"/>
            <a:ext cx="128016" cy="128016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36499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Publish / retire any diagram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858768"/>
            <a:ext cx="128016" cy="128016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7490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Reset passwords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59" y="1600200"/>
            <a:ext cx="3657600" cy="502920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61687" y="16459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Editor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19" y="2322576"/>
            <a:ext cx="128016" cy="128016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19" y="221284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Author &amp; edit diagrams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19" y="2706624"/>
            <a:ext cx="128016" cy="128016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19" y="259689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Bind applications &amp; capabilities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19" y="3090672"/>
            <a:ext cx="128016" cy="128016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19" y="298094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Submit diagrams for review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19" y="3474720"/>
            <a:ext cx="128016" cy="128016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17719" y="336499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Edit own factory records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19" y="3858768"/>
            <a:ext cx="128016" cy="128016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17719" y="37490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View analytics dashboard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598" y="1600200"/>
            <a:ext cx="3657600" cy="502920"/>
          </a:xfrm>
          <a:prstGeom prst="rect">
            <a:avLst/>
          </a:prstGeom>
          <a:solidFill>
            <a:srgbClr val="00C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39326" y="164592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Viewer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66758" y="2322576"/>
            <a:ext cx="128016" cy="128016"/>
          </a:xfrm>
          <a:prstGeom prst="rect">
            <a:avLst/>
          </a:prstGeom>
          <a:solidFill>
            <a:srgbClr val="00C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95358" y="221284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Read-only diagram access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66758" y="2706624"/>
            <a:ext cx="128016" cy="128016"/>
          </a:xfrm>
          <a:prstGeom prst="rect">
            <a:avLst/>
          </a:prstGeom>
          <a:solidFill>
            <a:srgbClr val="00C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95358" y="259689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View factory reference data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66758" y="3090672"/>
            <a:ext cx="128016" cy="128016"/>
          </a:xfrm>
          <a:prstGeom prst="rect">
            <a:avLst/>
          </a:prstGeom>
          <a:solidFill>
            <a:srgbClr val="00C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95358" y="298094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View analytics &amp; reports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66758" y="3474720"/>
            <a:ext cx="128016" cy="128016"/>
          </a:xfrm>
          <a:prstGeom prst="rect">
            <a:avLst/>
          </a:prstGeom>
          <a:solidFill>
            <a:srgbClr val="00C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95358" y="336499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No create / edit / delete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66758" y="3858768"/>
            <a:ext cx="128016" cy="128016"/>
          </a:xfrm>
          <a:prstGeom prst="rect">
            <a:avLst/>
          </a:prstGeom>
          <a:solidFill>
            <a:srgbClr val="00C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95358" y="37490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2C2C"/>
                </a:solidFill>
                <a:latin typeface="Calibri"/>
              </a:rPr>
              <a:t>No admin functions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4389120"/>
            <a:ext cx="11612880" cy="347472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444398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ASSET STATE WORKFLOW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828032"/>
            <a:ext cx="2103120" cy="420624"/>
          </a:xfrm>
          <a:prstGeom prst="rect">
            <a:avLst/>
          </a:prstGeom>
          <a:solidFill>
            <a:srgbClr val="8E8E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48646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Draft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468880" y="4901184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85A"/>
                </a:solidFill>
                <a:latin typeface="Calibri"/>
              </a:rPr>
              <a:t>→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560320" y="4828032"/>
            <a:ext cx="2103120" cy="420624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560320" y="48646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In Review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63440" y="4901184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85A"/>
                </a:solidFill>
                <a:latin typeface="Calibri"/>
              </a:rPr>
              <a:t>→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54880" y="4828032"/>
            <a:ext cx="2103120" cy="420624"/>
          </a:xfrm>
          <a:prstGeom prst="rect">
            <a:avLst/>
          </a:prstGeom>
          <a:solidFill>
            <a:srgbClr val="00C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54880" y="48646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Published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0" y="4901184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85A"/>
                </a:solidFill>
                <a:latin typeface="Calibri"/>
              </a:rPr>
              <a:t>→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49440" y="4828032"/>
            <a:ext cx="2103120" cy="420624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49440" y="48646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Deprecated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0" y="4901184"/>
            <a:ext cx="10972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285A"/>
                </a:solidFill>
                <a:latin typeface="Calibri"/>
              </a:rPr>
              <a:t>→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00" y="4828032"/>
            <a:ext cx="2103120" cy="420624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44000" y="486460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Retired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53766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8E8E8E"/>
                </a:solidFill>
                <a:latin typeface="Calibri"/>
              </a:rPr>
              <a:t>Applies to: Diagrams · Tasks · Applications · Capabilities · Actors · Business Flows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Value Delivered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C3E3"/>
                </a:solidFill>
                <a:latin typeface="Calibri"/>
              </a:rPr>
              <a:t>What BPMN IQ 2 enables for the Enterprise Architecture practice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11430000" cy="36576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811010" cy="141732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91440" cy="1417320"/>
          </a:xfrm>
          <a:prstGeom prst="rect">
            <a:avLst/>
          </a:prstGeom>
          <a:solidFill>
            <a:srgbClr val="00C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600200"/>
            <a:ext cx="539495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3E3"/>
                </a:solidFill>
                <a:latin typeface="Calibri"/>
              </a:rPr>
              <a:t>Single Source of Truth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947672"/>
            <a:ext cx="539495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5D6D2"/>
                </a:solidFill>
                <a:latin typeface="Calibri"/>
              </a:rPr>
              <a:t>One authoritative store for all business process diagrams, their applications, tasks, costs, and compliance metadata.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5811010" cy="141732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108960"/>
            <a:ext cx="91440" cy="1417320"/>
          </a:xfrm>
          <a:prstGeom prst="rect">
            <a:avLst/>
          </a:prstGeom>
          <a:solidFill>
            <a:srgbClr val="00C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200400"/>
            <a:ext cx="539495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3E3"/>
                </a:solidFill>
                <a:latin typeface="Calibri"/>
              </a:rPr>
              <a:t>Faster Compliance Answers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47872"/>
            <a:ext cx="539495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5D6D2"/>
                </a:solidFill>
                <a:latin typeface="Calibri"/>
              </a:rPr>
              <a:t>Identify all flows touching CPNI / PCI / SOX data in seconds, not days of spreadsheet analysis.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709160"/>
            <a:ext cx="5811010" cy="141732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709160"/>
            <a:ext cx="91440" cy="1417320"/>
          </a:xfrm>
          <a:prstGeom prst="rect">
            <a:avLst/>
          </a:prstGeom>
          <a:solidFill>
            <a:srgbClr val="00C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800600"/>
            <a:ext cx="539495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3E3"/>
                </a:solidFill>
                <a:latin typeface="Calibri"/>
              </a:rPr>
              <a:t>Informed Investment Decisions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148072"/>
            <a:ext cx="539495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5D6D2"/>
                </a:solidFill>
                <a:latin typeface="Calibri"/>
              </a:rPr>
              <a:t>See the true cost of each business flow before approving modernisation, migration, or retirement projects.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508760"/>
            <a:ext cx="5811010" cy="141732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1508760"/>
            <a:ext cx="91440" cy="1417320"/>
          </a:xfrm>
          <a:prstGeom prst="rect">
            <a:avLst/>
          </a:prstGeom>
          <a:solidFill>
            <a:srgbClr val="00C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1600200"/>
            <a:ext cx="539495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3E3"/>
                </a:solidFill>
                <a:latin typeface="Calibri"/>
              </a:rPr>
              <a:t>Living Capability 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1947672"/>
            <a:ext cx="539495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5D6D2"/>
                </a:solidFill>
                <a:latin typeface="Calibri"/>
              </a:rPr>
              <a:t>Capabilities stay in sync with running processes — no manual reconciliation between BCM and the process library.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3108960"/>
            <a:ext cx="5811010" cy="141732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3108960"/>
            <a:ext cx="91440" cy="1417320"/>
          </a:xfrm>
          <a:prstGeom prst="rect">
            <a:avLst/>
          </a:prstGeom>
          <a:solidFill>
            <a:srgbClr val="00C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64808" y="3200400"/>
            <a:ext cx="539495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3E3"/>
                </a:solidFill>
                <a:latin typeface="Calibri"/>
              </a:rPr>
              <a:t>Reduced Architecture Debt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4808" y="3547872"/>
            <a:ext cx="539495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5D6D2"/>
                </a:solidFill>
                <a:latin typeface="Calibri"/>
              </a:rPr>
              <a:t>State workflow prevents unreviewed or outdated diagrams from polluting the reference architecture.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4709160"/>
            <a:ext cx="5811010" cy="1417320"/>
          </a:xfrm>
          <a:prstGeom prst="rect">
            <a:avLst/>
          </a:prstGeom>
          <a:solidFill>
            <a:srgbClr val="00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4709160"/>
            <a:ext cx="91440" cy="1417320"/>
          </a:xfrm>
          <a:prstGeom prst="rect">
            <a:avLst/>
          </a:prstGeom>
          <a:solidFill>
            <a:srgbClr val="00C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4800600"/>
            <a:ext cx="539495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3E3"/>
                </a:solidFill>
                <a:latin typeface="Calibri"/>
              </a:rPr>
              <a:t>EA-Led Risk Management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8" y="5148072"/>
            <a:ext cx="539495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5D6D2"/>
                </a:solidFill>
                <a:latin typeface="Calibri"/>
              </a:rPr>
              <a:t>Risk scores flag which flows carry the highest combination of regulated data, sunset apps, and internet exposure.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" y="6556248"/>
            <a:ext cx="1182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D5D6D2"/>
                </a:solidFill>
                <a:latin typeface="Calibri"/>
              </a:rPr>
              <a:t>BPMN IQ 2  |  Process Intelligence Platform  |  AT&amp;T Enterprise Architecture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91672" y="65562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D5D6D2"/>
                </a:solidFill>
                <a:latin typeface="Calibri"/>
              </a:rPr>
              <a:t>May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C3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16952" y="0"/>
            <a:ext cx="4572000" cy="6858000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pmniq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6583680" cy="1965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7947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00C3E3"/>
                </a:solidFill>
                <a:latin typeface="Calibri"/>
              </a:rPr>
              <a:t>Process Intelligence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4343400"/>
            <a:ext cx="5943600" cy="36576"/>
          </a:xfrm>
          <a:prstGeom prst="rect">
            <a:avLst/>
          </a:prstGeom>
          <a:solidFill>
            <a:srgbClr val="009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498848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5D6D2"/>
                </a:solidFill>
                <a:latin typeface="Calibri"/>
              </a:rPr>
              <a:t>Questions?  Reach out to the EA Tools team.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834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E8E8E"/>
                </a:solidFill>
                <a:latin typeface="Calibri"/>
              </a:rPr>
              <a:t>http://localhost:5173  (development)  |  May 2026</a:t>
            </a:r>
          </a:p>
        </p:txBody>
      </p:sp>
      <p:pic>
        <p:nvPicPr>
          <p:cNvPr id="10" name="Picture 9" descr="bpmniq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8552" y="1645920"/>
            <a:ext cx="2743200" cy="27432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" y="6556248"/>
            <a:ext cx="1182319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D5D6D2"/>
                </a:solidFill>
                <a:latin typeface="Calibri"/>
              </a:rPr>
              <a:t>BPMN IQ 2  |  Process Intelligence Platform  |  AT&amp;T Enterprise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1672" y="655624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D5D6D2"/>
                </a:solidFill>
                <a:latin typeface="Calibri"/>
              </a:rPr>
              <a:t>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